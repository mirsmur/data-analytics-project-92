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3c90353c6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3c90353c6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3c90353c6_0_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3c90353c6_0_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3c90353c6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3c90353c6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3c90353c6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3c90353c6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3c90353c6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3c90353c6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3c90353c6_0_1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3c90353c6_0_1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3c90353c6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3c90353c6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3c90353c6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3c90353c6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3c90353c6_0_1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3c90353c6_0_1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3c90353c6_0_1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3c90353c6_0_1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3c90353c6_0_1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3c90353c6_0_1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B26B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1495150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Анализ данных торговой площадки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3181125" y="2949576"/>
            <a:ext cx="4712700" cy="45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aleway"/>
                <a:ea typeface="Raleway"/>
                <a:cs typeface="Raleway"/>
                <a:sym typeface="Raleway"/>
              </a:rPr>
              <a:t>Главные выводы о продажах и покупателях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Анализ продуктов</a:t>
            </a:r>
            <a:endParaRPr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311700" y="1936375"/>
            <a:ext cx="3841200" cy="17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Первая десятка самых продаваемых товаров </a:t>
            </a:r>
            <a:r>
              <a:rPr b="1" lang="ru" sz="1300"/>
              <a:t>не превышает долю в 35%</a:t>
            </a:r>
            <a:r>
              <a:rPr lang="ru" sz="1300"/>
              <a:t> от общего количества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Следует в дальнейшем обратить внимание на то, почему остальные товары продаются в таком малом количестве, и, возможно, пересмотреть ассортимент и актуализировать его</a:t>
            </a:r>
            <a:endParaRPr sz="1300"/>
          </a:p>
        </p:txBody>
      </p:sp>
      <p:pic>
        <p:nvPicPr>
          <p:cNvPr id="80" name="Google Shape;80;p14" title="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900" y="1258225"/>
            <a:ext cx="49911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 txBox="1"/>
          <p:nvPr/>
        </p:nvSpPr>
        <p:spPr>
          <a:xfrm>
            <a:off x="4412150" y="4344325"/>
            <a:ext cx="473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</a:rPr>
              <a:t>Доля ТОП-10 по количеству проданных единиц товаров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Анализ продуктов</a:t>
            </a:r>
            <a:endParaRPr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4937675" y="1518325"/>
            <a:ext cx="3930300" cy="27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Доля первой десятки самых прибыльных товаров составляет </a:t>
            </a:r>
            <a:r>
              <a:rPr b="1" lang="ru" sz="1300"/>
              <a:t>более 65%</a:t>
            </a:r>
            <a:r>
              <a:rPr lang="ru" sz="1300"/>
              <a:t>. Этот показатель гораздо сильнее влияет на структуру продаж, поэтому желательно именно его использовать в качестве ключевого для расчета квартального бонуса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Только </a:t>
            </a:r>
            <a:r>
              <a:rPr b="1" lang="ru" sz="1300"/>
              <a:t>три товара</a:t>
            </a:r>
            <a:r>
              <a:rPr lang="ru" sz="1300"/>
              <a:t> из этого списка входит в ТОП по проданному количеству. Вероятно, для повышения прибыли компании следует рассмотреть возможности увеличить продажи этих дорогостоящих товаров.</a:t>
            </a:r>
            <a:endParaRPr sz="1300"/>
          </a:p>
        </p:txBody>
      </p:sp>
      <p:sp>
        <p:nvSpPr>
          <p:cNvPr id="88" name="Google Shape;88;p15"/>
          <p:cNvSpPr txBox="1"/>
          <p:nvPr/>
        </p:nvSpPr>
        <p:spPr>
          <a:xfrm>
            <a:off x="0" y="4219525"/>
            <a:ext cx="4631100" cy="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</a:rPr>
              <a:t>Доля ТОП-10 прибыльных товаров в общей сумме выручки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9" name="Google Shape;89;p15" title="Диаграмма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363" y="1518325"/>
            <a:ext cx="4128374" cy="254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Анализ продаж</a:t>
            </a:r>
            <a:endParaRPr/>
          </a:p>
        </p:txBody>
      </p:sp>
      <p:pic>
        <p:nvPicPr>
          <p:cNvPr id="95" name="Google Shape;95;p16" title="charts_2026-07-27_13-02-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347" y="1284663"/>
            <a:ext cx="4419650" cy="29464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164350" y="1690350"/>
            <a:ext cx="4560000" cy="17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ru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Данная диаграмма отражает </a:t>
            </a:r>
            <a:r>
              <a:rPr b="1" lang="ru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выручку десяти лучших продавцов</a:t>
            </a:r>
            <a:r>
              <a:rPr lang="ru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. Отдельно подписано количество сделок каждого из сотрудников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ru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Интересно обратить внимание, что у лучшего по выручке сотрудника – </a:t>
            </a:r>
            <a:r>
              <a:rPr lang="ru" sz="1300">
                <a:solidFill>
                  <a:schemeClr val="dk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Dirk Stringer</a:t>
            </a:r>
            <a:r>
              <a:rPr lang="ru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– </a:t>
            </a:r>
            <a:r>
              <a:rPr lang="ru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далеко не самое большое количество сделок.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Напротив, у  </a:t>
            </a:r>
            <a:r>
              <a:rPr lang="ru" sz="1300">
                <a:solidFill>
                  <a:schemeClr val="dk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Abraham Bennet</a:t>
            </a:r>
            <a:r>
              <a:rPr lang="ru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средний показатель прибыли и самое большое количество сделок. 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Анализ продаж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5223550" y="1973100"/>
            <a:ext cx="3498300" cy="11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Из этой диаграммы, отражающей </a:t>
            </a:r>
            <a:r>
              <a:rPr b="1" lang="ru" sz="1300"/>
              <a:t>динамику продаж в разные дни недели</a:t>
            </a:r>
            <a:r>
              <a:rPr lang="ru" sz="1300"/>
              <a:t>, видно, что л</a:t>
            </a:r>
            <a:r>
              <a:rPr b="1" lang="ru" sz="1300"/>
              <a:t>учший по выручке день – вторник, худший – среда.</a:t>
            </a:r>
            <a:endParaRPr b="1" sz="1300"/>
          </a:p>
        </p:txBody>
      </p:sp>
      <p:pic>
        <p:nvPicPr>
          <p:cNvPr id="103" name="Google Shape;103;p17" title="charts_2026-07-30_14-12-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3750"/>
            <a:ext cx="4918750" cy="3279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Анализ покупателей</a:t>
            </a:r>
            <a:endParaRPr/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4838480" y="1595775"/>
            <a:ext cx="38931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На данном графике можно увидеть список покупателей, первая покупка которых была по акционному предложению, и продавцов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u" sz="1300"/>
              <a:t>Трое из четырех продавцов</a:t>
            </a:r>
            <a:r>
              <a:rPr lang="ru" sz="1300"/>
              <a:t> данной диаграммы попали в итоге в </a:t>
            </a:r>
            <a:r>
              <a:rPr b="1" lang="ru" sz="1300"/>
              <a:t>десятку самых лучших по выручке продавцов</a:t>
            </a:r>
            <a:r>
              <a:rPr lang="ru" sz="1300"/>
              <a:t>. Вероятно, они сумели воспользоваться акциями как инструментом не только привлечения, но и дальнейшего удержания клиентов</a:t>
            </a:r>
            <a:endParaRPr sz="1300"/>
          </a:p>
        </p:txBody>
      </p:sp>
      <p:pic>
        <p:nvPicPr>
          <p:cNvPr id="110" name="Google Shape;110;p18" title="charts_2026-07-30_14-11-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3750"/>
            <a:ext cx="4533680" cy="3022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Анализ покупателей</a:t>
            </a:r>
            <a:endParaRPr/>
          </a:p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46475" y="2114625"/>
            <a:ext cx="4160400" cy="16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Данная диаграмма отражает, в какие даты по акционным предложениям приходили новые покупатели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Диаграмма явно показывает, что </a:t>
            </a:r>
            <a:r>
              <a:rPr b="1" lang="ru" sz="1300"/>
              <a:t>акция наиболее успешно проходила 21.09.1992 </a:t>
            </a:r>
            <a:r>
              <a:rPr lang="ru" sz="1300"/>
              <a:t>и принесла в этот день больше всего новых покупателей</a:t>
            </a:r>
            <a:endParaRPr sz="1300"/>
          </a:p>
        </p:txBody>
      </p:sp>
      <p:pic>
        <p:nvPicPr>
          <p:cNvPr id="117" name="Google Shape;117;p19" title="charts_2026-07-30_14-10-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9275" y="1363750"/>
            <a:ext cx="4632325" cy="3088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Анализ покупателей</a:t>
            </a:r>
            <a:endParaRPr/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5309925" y="1661700"/>
            <a:ext cx="3366900" cy="18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Представленная круговая диаграмма отражает возрастной состав целевой аудитории торговой площадки – цифрами подписано количество покупателей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u" sz="1300"/>
              <a:t>Более половины всех покупателей старше 40 лет</a:t>
            </a:r>
            <a:endParaRPr b="1" sz="1300"/>
          </a:p>
        </p:txBody>
      </p:sp>
      <p:pic>
        <p:nvPicPr>
          <p:cNvPr id="124" name="Google Shape;124;p20" title="charts_2026-07-27_12-48-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63"/>
            <a:ext cx="5254625" cy="350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Анализ покупателей</a:t>
            </a:r>
            <a:endParaRPr/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241925" y="1359500"/>
            <a:ext cx="3963300" cy="31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На этой диаграмме показана динамика роста выручки и количества покупателей по месяцам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В начале рассматриваемого периода </a:t>
            </a:r>
            <a:r>
              <a:rPr b="1" lang="ru" sz="1300"/>
              <a:t>количество покупателей больше выручки </a:t>
            </a:r>
            <a:r>
              <a:rPr lang="ru" sz="1300"/>
              <a:t>– возможно, те покупатели, которые были уже зарегистрированы в системе, не спешили совершать покупки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К октябрю ситуация сильно изменилась: во-первых, </a:t>
            </a:r>
            <a:r>
              <a:rPr b="1" lang="ru" sz="1300"/>
              <a:t>сильно выросло количество выручки и покупателей</a:t>
            </a:r>
            <a:r>
              <a:rPr lang="ru" sz="1300"/>
              <a:t>, во-вторых, выручка превысила количество покупателей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В ноябре 1992 г. количество покупателей резко сократилась, но значительного снижения выручки не произошло – вероятно, произошла актуализация клиентской базы</a:t>
            </a:r>
            <a:endParaRPr sz="1300"/>
          </a:p>
        </p:txBody>
      </p:sp>
      <p:pic>
        <p:nvPicPr>
          <p:cNvPr id="131" name="Google Shape;131;p21" title="charts_2026-07-30_14-11-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7625" y="1363750"/>
            <a:ext cx="4633974" cy="3089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Выводы</a:t>
            </a:r>
            <a:endParaRPr/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2410100" y="1302850"/>
            <a:ext cx="6321600" cy="3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В рассматриваемый период на торговой площадке произошли сильные изменения: </a:t>
            </a:r>
            <a:r>
              <a:rPr b="1" lang="ru" sz="1300"/>
              <a:t>значительно выросло </a:t>
            </a:r>
            <a:r>
              <a:rPr b="1" lang="ru" sz="1300"/>
              <a:t>количество новых покупателей</a:t>
            </a:r>
            <a:r>
              <a:rPr b="1" lang="ru" sz="1300"/>
              <a:t> и выручка от них</a:t>
            </a:r>
            <a:r>
              <a:rPr lang="ru" sz="1300"/>
              <a:t>, однако до сих пор проглядываются проблемы, решение которых поможет дальше увеличивать выручку и количество покупателей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В первую очередь, важно понять, почему </a:t>
            </a:r>
            <a:r>
              <a:rPr b="1" lang="ru" sz="1300"/>
              <a:t>в среду каждой недели происходит значительная просадка по выручке</a:t>
            </a:r>
            <a:r>
              <a:rPr lang="ru" sz="1300"/>
              <a:t>: возможно, продавцы работают посменно, и в этот день работают продавцы, например, средняя стоимость выручки которых меньше средней по компании. </a:t>
            </a:r>
            <a:br>
              <a:rPr lang="ru" sz="1300"/>
            </a:br>
            <a:r>
              <a:rPr lang="ru" sz="1300"/>
              <a:t>Также стоит заметить, что есть </a:t>
            </a:r>
            <a:r>
              <a:rPr b="1" lang="ru" sz="1300"/>
              <a:t>целая категория сотрудников</a:t>
            </a:r>
            <a:r>
              <a:rPr lang="ru" sz="1300"/>
              <a:t>, не просто немного отстающих от средних показателей, а </a:t>
            </a:r>
            <a:r>
              <a:rPr b="1" lang="ru" sz="1300"/>
              <a:t>существенно до них недобирающих</a:t>
            </a:r>
            <a:r>
              <a:rPr lang="ru" sz="1300"/>
              <a:t>. Вероятно, следует разработать стратегию повышения их квалификации и повышения мотивации, разобраться в причинах таких низких показателей.</a:t>
            </a:r>
            <a:br>
              <a:rPr lang="ru" sz="1300"/>
            </a:br>
            <a:r>
              <a:rPr lang="ru" sz="1300"/>
              <a:t>Напротив, есть сотрудники, у которых интересные стратегии работы, с помощью которых они добиваются наилучших результатов. Возможно, можно сделать их наставниками для “отстающих”</a:t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Выводы</a:t>
            </a:r>
            <a:endParaRPr/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В маркетинговых кампаниях следует ориентироваться на то, что </a:t>
            </a:r>
            <a:r>
              <a:rPr b="1" lang="ru" sz="1300"/>
              <a:t>основа целевой аудитории – люди старше 40 лет</a:t>
            </a:r>
            <a:endParaRPr b="1"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В изучаемом периоде наиболее успешной была маркетинговая кампания </a:t>
            </a:r>
            <a:br>
              <a:rPr lang="ru" sz="1300"/>
            </a:br>
            <a:r>
              <a:rPr lang="ru" sz="1300"/>
              <a:t>декабря –</a:t>
            </a:r>
            <a:r>
              <a:rPr b="1" lang="ru" sz="1300"/>
              <a:t> по этим акционным предложениям пришло наибольшее количество новых клиентов.</a:t>
            </a:r>
            <a:endParaRPr b="1"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2400250" y="2186976"/>
            <a:ext cx="63216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Дашборд проекта можно увидеть по адресу: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/>
              <a:t>https://datalens.yandex/b2u4qr2dhjlcu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